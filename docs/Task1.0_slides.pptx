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Baseline: ordinary single-photon loss in physical units. We converted every frequency with omega = 2 pi f, so Delta = kappa = 2 pi rad/us. The simulated photon number lies exactly on 4 e^(-kappa t); the worst-case difference is 5e-15, i.e. numerical round-off, which also confirms we got the 2 pi right (forgetting it would make the decay 6x slower). In phase space the blob rotates once per microsecond and spirals in, but its shape never changes: the fidelity with the analytic coherent state alpha0 e^(-(i Delta + kappa/2) t) stays above 0.99999. Reason: a coherent state is an eigenstate of a, so a photon-loss jump does not change it. This is why single-photon loss alone can never flip +alpha to -alpha.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Now the engineered ingredient alone: only two-photon loss, with kappa2 = 4 g2^2 / kappa_b from the provided parameters (5.63 rad/us). The photon number falls fast at first (rate ~ kappa2 n^2) and then stops dead near 0.5, already by about 1 us. Answer to the prompt's question: a^2 kills |0&gt; and |1&gt;, so they are dark states. Removing photons in pairs never changes parity, so all the even-photon weight of |alpha=2&gt; ends in |0&gt; and all the odd weight ends in |1&gt;. The final &lt;n&gt; is therefore exactly the odd-parity probability of the initial coherent state, (1 - e^(-8))/2 = 0.49983, and our simulation gives 0.49983 to 5 digits. Parity stays constant to 1e-15. This conserved parity comes back in Task 1.3.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Full effective model: two-photon loss plus two-photon drive gives the jump operator sqrt(kappa2)(a^2 - alpha^2), whose dark states are |+alpha&gt; and |-alpha&gt;. Starting from vacuum, the photon number climbs smoothly to alpha^2 = 4.41 in about 0.25 us at the nominal rate, and the Wigner function splits into two blobs at +-2.1 with fringes in between. Sweeping kappa2 by a factor 16 changes how fast we get there, not where: on the right panel, plotted against kappa2 t, the three curves collapse. If kappa_a = 0 this collapse is exact because the master equation is kappa2 times a fixed superoperator, so time only appears as kappa2 t. With kappa_a on, steady state is 4.404 rather than 4.41, and the kappa2/4 curve lags slightly. Because vacuum has even parity and pair processes preserve it, we land in the even cat C+, not a single codeword. Single-photon loss then causes phase flips: parity decays at about 2 kappa_a alpha^2 = 0.51 per us, so by 2 us it is 0.37 and the fringes are visibly fainter. That is the ideal reference for the two-mode model in Task 1.1.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ask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11274552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457200" y="1005840"/>
            <a:ext cx="11274552" cy="41148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500" dirty="0">
                <a:solidFill>
                  <a:schemeClr val="tx2"/>
                </a:solidFill>
              </a:defRPr>
            </a:lvl1pPr>
          </a:lstStyle>
          <a:p>
            <a:pPr indent="0" marL="0">
              <a:buNone/>
            </a:pPr>
            <a:endParaRPr lang="en-US" sz="1500" dirty="0"/>
          </a:p>
        </p:txBody>
      </p:sp>
      <p:sp>
        <p:nvSpPr>
          <p:cNvPr id="4" name="Text 0"/>
          <p:cNvSpPr/>
          <p:nvPr/>
        </p:nvSpPr>
        <p:spPr>
          <a:xfrm>
            <a:off x="457200" y="6446520"/>
            <a:ext cx="10332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Lindblad master equation, single mode, N = 30 Fock states · ħ = 1, t in µs, rates in rad/µs · DuQuantum 2026 — Alice &amp; Bob cat-qubit challenge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46520"/>
            <a:ext cx="39319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46520"/>
            <a:ext cx="39319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112745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1.0(a)  Single-photon loss: the state shrinks but stays coherent</a:t>
            </a:r>
            <a:endParaRPr lang="en-US" sz="3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457200" y="1005840"/>
            <a:ext cx="112745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H = Δ a†a,   jump √κ a,   Δ/2π = 1 MHz,   κ/2π = 1 MHz (exaggerated),   start |α₀ = 2⟩,   0 ≤ t ≤ 1 µs</a:t>
            </a:r>
            <a:endParaRPr lang="en-US" sz="1500" dirty="0"/>
          </a:p>
        </p:txBody>
      </p:sp>
      <p:pic>
        <p:nvPicPr>
          <p:cNvPr id="4" name="photon number vs analytic" descr="Mean photon number decays from 4 to near 0; simulation points sit on the analytic exponentia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645920"/>
            <a:ext cx="5120640" cy="3683914"/>
          </a:xfrm>
          <a:prstGeom prst="rect">
            <a:avLst/>
          </a:prstGeom>
        </p:spPr>
      </p:pic>
      <p:pic>
        <p:nvPicPr>
          <p:cNvPr id="5" name="Wigner snapshots" descr="Wigner snapshots at 0, 0.12, 0.25, 0.5 us: a round blob spiralling clockwise toward the origi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97880" y="1600200"/>
            <a:ext cx="5833872" cy="1746145"/>
          </a:xfrm>
          <a:prstGeom prst="rect">
            <a:avLst/>
          </a:prstGeom>
        </p:spPr>
      </p:pic>
      <p:sp>
        <p:nvSpPr>
          <p:cNvPr id="6" name="takeaways"/>
          <p:cNvSpPr txBox="1"/>
          <p:nvPr/>
        </p:nvSpPr>
        <p:spPr>
          <a:xfrm>
            <a:off x="5897880" y="3520440"/>
            <a:ext cx="5833872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Simulation sits on |α₀|² e^(−κt) to machine precision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Centre rotates at Δ (one turn per µs) and shrinks as e^(−κt/2): a spiral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It stays round because a|α⟩ = α|α⟩: losing a photon leaves a coherent state coherent</a:t>
            </a:r>
            <a:endParaRPr lang="en-US" sz="1500" dirty="0"/>
          </a:p>
        </p:txBody>
      </p:sp>
      <p:sp>
        <p:nvSpPr>
          <p:cNvPr id="7" name="stat error"/>
          <p:cNvSpPr/>
          <p:nvPr/>
        </p:nvSpPr>
        <p:spPr>
          <a:xfrm>
            <a:off x="5897880" y="5349240"/>
            <a:ext cx="1828800" cy="9144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stat error text"/>
          <p:cNvSpPr txBox="1"/>
          <p:nvPr/>
        </p:nvSpPr>
        <p:spPr>
          <a:xfrm>
            <a:off x="6035040" y="5349240"/>
            <a:ext cx="1554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1"/>
                </a:solidFill>
              </a:rPr>
              <a:t>5 × 10⁻¹⁵</a:t>
            </a:r>
            <a:endParaRPr lang="en-US" sz="2200" dirty="0"/>
          </a:p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max |n_sim − n_analytic|</a:t>
            </a:r>
            <a:endParaRPr lang="en-US" sz="2200" dirty="0"/>
          </a:p>
        </p:txBody>
      </p:sp>
      <p:sp>
        <p:nvSpPr>
          <p:cNvPr id="9" name="stat fidelity"/>
          <p:cNvSpPr/>
          <p:nvPr/>
        </p:nvSpPr>
        <p:spPr>
          <a:xfrm>
            <a:off x="7900416" y="5349240"/>
            <a:ext cx="1828800" cy="9144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stat fidelity text"/>
          <p:cNvSpPr txBox="1"/>
          <p:nvPr/>
        </p:nvSpPr>
        <p:spPr>
          <a:xfrm>
            <a:off x="8037576" y="5349240"/>
            <a:ext cx="1554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1"/>
                </a:solidFill>
              </a:rPr>
              <a:t>&gt; 0.99999</a:t>
            </a:r>
            <a:endParaRPr lang="en-US" sz="2200" dirty="0"/>
          </a:p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fidelity with analytic coherent state</a:t>
            </a:r>
            <a:endParaRPr lang="en-US" sz="2200" dirty="0"/>
          </a:p>
        </p:txBody>
      </p:sp>
      <p:sp>
        <p:nvSpPr>
          <p:cNvPr id="11" name="stat photons"/>
          <p:cNvSpPr/>
          <p:nvPr/>
        </p:nvSpPr>
        <p:spPr>
          <a:xfrm>
            <a:off x="9902952" y="5349240"/>
            <a:ext cx="1828800" cy="9144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stat photons text"/>
          <p:cNvSpPr txBox="1"/>
          <p:nvPr/>
        </p:nvSpPr>
        <p:spPr>
          <a:xfrm>
            <a:off x="10040112" y="5349240"/>
            <a:ext cx="1554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1"/>
                </a:solidFill>
              </a:rPr>
              <a:t>4 → 0.007</a:t>
            </a:r>
            <a:endParaRPr lang="en-US" sz="2200" dirty="0"/>
          </a:p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photons left after 1 µs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46520"/>
            <a:ext cx="39319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112745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1.0(b)  Pure two-photon loss: the photon number stalls at ½</a:t>
            </a:r>
            <a:endParaRPr lang="en-US" sz="3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457200" y="1005840"/>
            <a:ext cx="112745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H = 0,   jump √κ₂ a²,   κ₂ = 4g₂²/κ_b = 2π × 0.896 MHz = 5.63 rad/µs,   start |α₀ = 2⟩,   0 ≤ t ≤ 3 µs</a:t>
            </a:r>
            <a:endParaRPr lang="en-US" sz="1500" dirty="0"/>
          </a:p>
        </p:txBody>
      </p:sp>
      <p:pic>
        <p:nvPicPr>
          <p:cNvPr id="4" name="photon number stall" descr="Photon number drops from 4 and flattens at 0.4998, matching the dashed predicti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645920"/>
            <a:ext cx="5120640" cy="3683914"/>
          </a:xfrm>
          <a:prstGeom prst="rect">
            <a:avLst/>
          </a:prstGeom>
        </p:spPr>
      </p:pic>
      <p:pic>
        <p:nvPicPr>
          <p:cNvPr id="5" name="Fock populations" descr="Initial Poisson Fock distribution versus final state with half in |0&gt; and half in |1&gt;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97880" y="1600200"/>
            <a:ext cx="3017520" cy="2713597"/>
          </a:xfrm>
          <a:prstGeom prst="rect">
            <a:avLst/>
          </a:prstGeom>
        </p:spPr>
      </p:pic>
      <p:sp>
        <p:nvSpPr>
          <p:cNvPr id="6" name="why heading"/>
          <p:cNvSpPr txBox="1"/>
          <p:nvPr/>
        </p:nvSpPr>
        <p:spPr>
          <a:xfrm>
            <a:off x="9144000" y="1645920"/>
            <a:ext cx="25877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Why it stops at ≈ 0.5</a:t>
            </a:r>
            <a:endParaRPr lang="en-US" sz="1600" dirty="0"/>
          </a:p>
        </p:txBody>
      </p:sp>
      <p:sp>
        <p:nvSpPr>
          <p:cNvPr id="7" name="why text"/>
          <p:cNvSpPr txBox="1"/>
          <p:nvPr/>
        </p:nvSpPr>
        <p:spPr>
          <a:xfrm>
            <a:off x="9144000" y="2011680"/>
            <a:ext cx="2587752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a² removes photons only in pairs, so parity is conserved.</a:t>
            </a:r>
            <a:endParaRPr lang="en-US" sz="1400" dirty="0"/>
          </a:p>
          <a:p>
            <a:pPr indent="0" marL="0">
              <a:buNone/>
            </a:pPr>
            <a:r>
              <a:rPr lang="en-US" sz="600" dirty="0">
                <a:solidFill>
                  <a:schemeClr val="tx1"/>
                </a:solidFill>
              </a:rPr>
              <a:t> 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a²|0⟩ = a²|1⟩ = 0: these two are dark. Even part → |0⟩, odd part → |1⟩.</a:t>
            </a:r>
            <a:endParaRPr lang="en-US" sz="1400" dirty="0"/>
          </a:p>
          <a:p>
            <a:pPr indent="0" marL="0">
              <a:buNone/>
            </a:pPr>
            <a:r>
              <a:rPr lang="en-US" sz="600" dirty="0">
                <a:solidFill>
                  <a:schemeClr val="tx1"/>
                </a:solidFill>
              </a:rPr>
              <a:t> 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⟨n⟩∞ = P_odd = (1 − e^(−2|α|²))/2</a:t>
            </a:r>
            <a:endParaRPr lang="en-US" sz="1400" dirty="0"/>
          </a:p>
        </p:txBody>
      </p:sp>
      <p:sp>
        <p:nvSpPr>
          <p:cNvPr id="8" name="stat sim"/>
          <p:cNvSpPr/>
          <p:nvPr/>
        </p:nvSpPr>
        <p:spPr>
          <a:xfrm>
            <a:off x="5897880" y="5349240"/>
            <a:ext cx="1828800" cy="9144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stat sim text"/>
          <p:cNvSpPr txBox="1"/>
          <p:nvPr/>
        </p:nvSpPr>
        <p:spPr>
          <a:xfrm>
            <a:off x="6035040" y="5349240"/>
            <a:ext cx="1554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1"/>
                </a:solidFill>
              </a:rPr>
              <a:t>0.49983</a:t>
            </a:r>
            <a:endParaRPr lang="en-US" sz="2200" dirty="0"/>
          </a:p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simulated ⟨n⟩ at t = 3 µs</a:t>
            </a:r>
            <a:endParaRPr lang="en-US" sz="2200" dirty="0"/>
          </a:p>
        </p:txBody>
      </p:sp>
      <p:sp>
        <p:nvSpPr>
          <p:cNvPr id="10" name="stat predicted"/>
          <p:cNvSpPr/>
          <p:nvPr/>
        </p:nvSpPr>
        <p:spPr>
          <a:xfrm>
            <a:off x="7900416" y="5349240"/>
            <a:ext cx="1828800" cy="9144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1" name="stat predicted text"/>
          <p:cNvSpPr txBox="1"/>
          <p:nvPr/>
        </p:nvSpPr>
        <p:spPr>
          <a:xfrm>
            <a:off x="8037576" y="5349240"/>
            <a:ext cx="1554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1"/>
                </a:solidFill>
              </a:rPr>
              <a:t>0.49983</a:t>
            </a:r>
            <a:endParaRPr lang="en-US" sz="2200" dirty="0"/>
          </a:p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predicted P_odd (analytic)</a:t>
            </a:r>
            <a:endParaRPr lang="en-US" sz="2200" dirty="0"/>
          </a:p>
        </p:txBody>
      </p:sp>
      <p:sp>
        <p:nvSpPr>
          <p:cNvPr id="12" name="stat parity"/>
          <p:cNvSpPr/>
          <p:nvPr/>
        </p:nvSpPr>
        <p:spPr>
          <a:xfrm>
            <a:off x="9902952" y="5349240"/>
            <a:ext cx="1828800" cy="9144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3" name="stat parity text"/>
          <p:cNvSpPr txBox="1"/>
          <p:nvPr/>
        </p:nvSpPr>
        <p:spPr>
          <a:xfrm>
            <a:off x="10040112" y="5349240"/>
            <a:ext cx="1554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1"/>
                </a:solidFill>
              </a:rPr>
              <a:t>1 × 10⁻¹⁵</a:t>
            </a:r>
            <a:endParaRPr lang="en-US" sz="2200" dirty="0"/>
          </a:p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drift in ⟨parity⟩ over 3 µs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46520"/>
            <a:ext cx="39319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112745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1.0(c)  Two-photon loss + drive: a stabilized cat at α² = 4.41</a:t>
            </a:r>
            <a:endParaRPr lang="en-US" sz="3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457200" y="1005840"/>
            <a:ext cx="112745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H = 0,   jumps √κ₂ (a² − α²)  and  √κ_a a,   α = 2.1,   κ_a/2π = 9.3 kHz,   start in vacuum |0⟩,   κ₂ swept over ×¼, ×1, ×4</a:t>
            </a:r>
            <a:endParaRPr lang="en-US" sz="1500" dirty="0"/>
          </a:p>
        </p:txBody>
      </p:sp>
      <p:pic>
        <p:nvPicPr>
          <p:cNvPr id="4" name="kappa2 sweep" descr="Photon number rises to 4.41 for three kappa2 values; plotted against kappa2 t the three curves overlap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600200"/>
            <a:ext cx="7223760" cy="2781579"/>
          </a:xfrm>
          <a:prstGeom prst="rect">
            <a:avLst/>
          </a:prstGeom>
        </p:spPr>
      </p:pic>
      <p:pic>
        <p:nvPicPr>
          <p:cNvPr id="5" name="cat Wigner snapshots" descr="Vacuum blob stretches into two blobs at plus and minus 2.1 with interference fringes that partly fade by 2 us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4526280"/>
            <a:ext cx="5852160" cy="1751619"/>
          </a:xfrm>
          <a:prstGeom prst="rect">
            <a:avLst/>
          </a:prstGeom>
        </p:spPr>
      </p:pic>
      <p:sp>
        <p:nvSpPr>
          <p:cNvPr id="6" name="settle heading"/>
          <p:cNvSpPr txBox="1"/>
          <p:nvPr/>
        </p:nvSpPr>
        <p:spPr>
          <a:xfrm>
            <a:off x="8001000" y="1645920"/>
            <a:ext cx="37307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Time to settle within 1 % of α²</a:t>
            </a:r>
            <a:endParaRPr lang="en-US" sz="1600" dirty="0"/>
          </a:p>
        </p:txBody>
      </p:sp>
      <p:graphicFrame>
        <p:nvGraphicFramePr>
          <p:cNvPr id="4" name="settle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001000" y="2057400"/>
          <a:ext cx="3730752" cy="914400"/>
        </p:xfrm>
        <a:graphic>
          <a:graphicData uri="http://schemas.openxmlformats.org/drawingml/2006/table">
            <a:tbl>
              <a:tblPr/>
              <a:tblGrid>
                <a:gridCol w="1097280"/>
                <a:gridCol w="1316736"/>
                <a:gridCol w="1316736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2"/>
                          </a:solidFill>
                        </a:rPr>
                        <a:t>rate</a:t>
                      </a:r>
                      <a:endParaRPr lang="en-US" sz="1200" dirty="0"/>
                    </a:p>
                  </a:txBody>
                  <a:tcPr marL="45720" marR="45720" marT="45720" marB="45720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2"/>
                          </a:solidFill>
                        </a:rPr>
                        <a:t>t_settle</a:t>
                      </a:r>
                      <a:endParaRPr lang="en-US" sz="1200" dirty="0"/>
                    </a:p>
                  </a:txBody>
                  <a:tcPr marL="45720" marR="45720" marT="45720" marB="45720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2"/>
                          </a:solidFill>
                        </a:rPr>
                        <a:t>κ₂ · t_settle</a:t>
                      </a:r>
                      <a:endParaRPr lang="en-US" sz="1200" dirty="0"/>
                    </a:p>
                  </a:txBody>
                  <a:tcPr marL="45720" marR="45720" marT="45720" marB="45720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κ₂ / 4</a:t>
                      </a:r>
                      <a:endParaRPr lang="en-US" sz="1400" dirty="0"/>
                    </a:p>
                  </a:txBody>
                  <a:tcPr marL="45720" marR="45720" marT="45720" marB="45720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1.11 µs</a:t>
                      </a:r>
                      <a:endParaRPr lang="en-US" sz="1400" dirty="0"/>
                    </a:p>
                  </a:txBody>
                  <a:tcPr marL="45720" marR="45720" marT="45720" marB="45720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1.55</a:t>
                      </a:r>
                      <a:endParaRPr lang="en-US" sz="1400" dirty="0"/>
                    </a:p>
                  </a:txBody>
                  <a:tcPr marL="45720" marR="45720" marT="45720" marB="45720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κ₂</a:t>
                      </a:r>
                      <a:endParaRPr lang="en-US" sz="1400" dirty="0"/>
                    </a:p>
                  </a:txBody>
                  <a:tcPr marL="45720" marR="45720" marT="45720" marB="45720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0.25 µs</a:t>
                      </a:r>
                      <a:endParaRPr lang="en-US" sz="1400" dirty="0"/>
                    </a:p>
                  </a:txBody>
                  <a:tcPr marL="45720" marR="45720" marT="45720" marB="45720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1.42</a:t>
                      </a:r>
                      <a:endParaRPr lang="en-US" sz="1400" dirty="0"/>
                    </a:p>
                  </a:txBody>
                  <a:tcPr marL="45720" marR="45720" marT="45720" marB="45720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4 κ₂</a:t>
                      </a:r>
                      <a:endParaRPr lang="en-US" sz="1400" dirty="0"/>
                    </a:p>
                  </a:txBody>
                  <a:tcPr marL="45720" marR="45720" marT="45720" marB="45720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0.06 µs</a:t>
                      </a:r>
                      <a:endParaRPr lang="en-US" sz="1400" dirty="0"/>
                    </a:p>
                  </a:txBody>
                  <a:tcPr marL="45720" marR="45720" marT="45720" marB="45720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1.41</a:t>
                      </a:r>
                      <a:endParaRPr lang="en-US" sz="1400" dirty="0"/>
                    </a:p>
                  </a:txBody>
                  <a:tcPr marL="45720" marR="45720" marT="45720" marB="45720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able note"/>
          <p:cNvSpPr txBox="1"/>
          <p:nvPr/>
        </p:nvSpPr>
        <p:spPr>
          <a:xfrm>
            <a:off x="8001000" y="3703320"/>
            <a:ext cx="373075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Same destination, speed ∝ κ₂. Small residual spread at κ₂/4 comes from κ_a.</a:t>
            </a:r>
            <a:endParaRPr lang="en-US" sz="1200" dirty="0"/>
          </a:p>
        </p:txBody>
      </p:sp>
      <p:sp>
        <p:nvSpPr>
          <p:cNvPr id="9" name="takeaways"/>
          <p:cNvSpPr txBox="1"/>
          <p:nvPr/>
        </p:nvSpPr>
        <p:spPr>
          <a:xfrm>
            <a:off x="6583680" y="4480560"/>
            <a:ext cx="5148072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⟨n⟩ rises monotonically to 4.40 ≈ α² for every κ₂; no overshoot in the effective model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With κ_a = 0 the only rate is κ₂, so dynamics depend on κ₂t alone: exactly ∝ 1/κ₂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Vacuum is even, so we inflate into the even cat |C₊⟩; by 2 µs κ_a has cut parity to 0.37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46520"/>
            <a:ext cx="39319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at Qubit">
  <a:themeElements>
    <a:clrScheme name="Cat Qubit">
      <a:dk1>
        <a:srgbClr val="1F2430"/>
      </a:dk1>
      <a:lt1>
        <a:srgbClr val="FFFFFF"/>
      </a:lt1>
      <a:dk2>
        <a:srgbClr val="6B7280"/>
      </a:dk2>
      <a:lt2>
        <a:srgbClr val="F1F4F9"/>
      </a:lt2>
      <a:accent1>
        <a:srgbClr val="2563EB"/>
      </a:accent1>
      <a:accent2>
        <a:srgbClr val="D97706"/>
      </a:accent2>
      <a:accent3>
        <a:srgbClr val="059669"/>
      </a:accent3>
      <a:accent4>
        <a:srgbClr val="DC2626"/>
      </a:accent4>
      <a:accent5>
        <a:srgbClr val="7C3AED"/>
      </a:accent5>
      <a:accent6>
        <a:srgbClr val="0891B2"/>
      </a:accent6>
      <a:hlink>
        <a:srgbClr val="2563EB"/>
      </a:hlink>
      <a:folHlink>
        <a:srgbClr val="7C3AED"/>
      </a:folHlink>
    </a:clrScheme>
    <a:fontScheme name="Cat Qubit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Task 1.0 — Dissipation one ingredient at a time</dc:title>
  <dc:subject>PptxGenJS Presentation</dc:subject>
  <dc:creator>PptxGenJS</dc:creator>
  <cp:lastModifiedBy>PptxGenJS</cp:lastModifiedBy>
  <cp:revision>1</cp:revision>
  <dcterms:created xsi:type="dcterms:W3CDTF">2026-10-25T01:33:11Z</dcterms:created>
  <dcterms:modified xsi:type="dcterms:W3CDTF">2026-10-25T01:33:11Z</dcterms:modified>
</cp:coreProperties>
</file>